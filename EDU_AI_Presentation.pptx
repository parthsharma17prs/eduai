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3657600" cy="36576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✦ NEXT-GENERATION AI RECRUITMENT &amp; ASSESSMENT ECOSYSTEM</a:t>
            </a:r>
          </a:p>
          <a:p>
            <a:pPr>
              <a:defRPr sz="4800" b="1">
                <a:solidFill>
                  <a:srgbClr val="F8FAFC"/>
                </a:solidFill>
              </a:defRPr>
            </a:pPr>
            <a:r>
              <a:t>EDU-AI PLATFORM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3D Virtual AI Recruiter Avatar • Real-Time Voice Telephony Agent • AI Proctoring • Instant Contests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966960" cy="914400"/>
          </a:xfrm>
          <a:prstGeom prst="roundRect">
            <a:avLst/>
          </a:prstGeom>
          <a:solidFill>
            <a:srgbClr val="121E42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6B6D4"/>
                </a:solidFill>
              </a:defRPr>
            </a:pPr>
            <a:r>
              <a:t>Presenter: Parth Sharma  |  GitHub: github.com/parthsharma17prs/eduai  |  Demo: youtu.be/X7wJoscMq6A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INDUSTRY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Current Bottlenecks in Technical Hiring &amp; Placements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Why traditional hiring pipelines and assessment platforms fall short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920240"/>
          </a:xfrm>
          <a:prstGeom prst="roundRect">
            <a:avLst/>
          </a:prstGeom>
          <a:solidFill>
            <a:srgbClr val="121E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❌ Recruiter Burnout &amp; Bottlenecks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Screening hundreds of candidates manually over phone calls is slow, inconsistent, and drains engineering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920240"/>
          </a:xfrm>
          <a:prstGeom prst="roundRect">
            <a:avLst/>
          </a:prstGeom>
          <a:solidFill>
            <a:srgbClr val="121E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❌ Impersonation &amp; Assessment Fraud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Standard web tests suffer from rampant tab-switching, unauthorized assistance, and proxy test-takers.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5120640" cy="192024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❌ Unrealistic Candidate Practice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Static question lists fail to prepare students for conversational pressure, live follow-ups, and panel discussions.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06240"/>
            <a:ext cx="5120640" cy="192024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❌ Fragmented Tool Silos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Companies juggle separate tools for ATS, video interviews, coding challenges, and phone screenings.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PLATFORM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EDU-AI: The All-in-One Multi-Modal AI Solution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Unifying virtual avatar interviews, real-time voice calls, live contests, and automated ATS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01</a:t>
            </a:r>
            <a:br/>
            <a:r>
              <a:t>3D AI Recruiter Avatar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Interactive Three.js virtual interviewer with real-time speech recognition, natural TTS, and adaptive questioning.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02</a:t>
            </a:r>
            <a:br/>
            <a:r>
              <a:t>AI Voice Calling Agent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Twilio &amp; Ultravox streaming speech agent for automated outbound phone screenings with zero latency.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03</a:t>
            </a:r>
            <a:br/>
            <a:r>
              <a:t>Vector Biometric Proctoring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Pinecone vector face embeddings + dual-camera video feeds for ironclad anti-cheating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04</a:t>
            </a:r>
            <a:br/>
            <a:r>
              <a:t>Multiplayer Contests &amp; ATS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Zero-wait coding contests, multiplayer live quizzes, and automated candidate ranking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FEATURE SPOTLIGHT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3D Virtual AI Recruiter Mock Interview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Immersive, conversational technical interviews with real-time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⚡ Realistic 3D Graphics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Procedural 3D executive avatar and GLTF ReadyPlayerMe models with procedural blinking and head movement.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⚡ Real-Time Lip-Sync &amp; TTS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Synchronized mouth morphing mapped to natural speech audio synthesis with dynamic emotional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⚡ Resume &amp; CV Parsing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Instant AI analysis of candidate resume skills to generate customized, role-specific technical problem 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⚡ Multi-Metric Evaluation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Automated grading across Technical Depth, Communication, Problem Solving, and Architecture trade-offs.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TELEPHONY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Real-Time AI Voice Calling (Twilio + Ultravox)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Automating phone screening rounds directly to candidate mobile phones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📞</a:t>
            </a:r>
            <a:br/>
            <a:r>
              <a:t>Full-Duplex Speech AI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Ultravox WebSocket media streams achieve sub-500ms voice response times over regular cellular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📞</a:t>
            </a:r>
            <a:br/>
            <a:r>
              <a:t>Intelligent Screening Dialog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Conducts structured technical discussions, checks stack experience, and probes engineering trade-offs.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📞</a:t>
            </a:r>
            <a:br/>
            <a:r>
              <a:t>OTP Anti-Fraud Security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Pre-verified whitelisting for authorized testing (+918319556016) with automated OTP gates for new numbers.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F4444"/>
                </a:solidFill>
              </a:defRPr>
            </a:pPr>
            <a:r>
              <a:t>📞</a:t>
            </a:r>
            <a:br/>
            <a:r>
              <a:t>YouTube Demo Video</a:t>
            </a:r>
          </a:p>
          <a:p>
            <a:br/>
            <a:pPr>
              <a:defRPr sz="1300">
                <a:solidFill>
                  <a:srgbClr val="F8FAFC"/>
                </a:solidFill>
              </a:defRPr>
            </a:pPr>
            <a:r>
              <a:t>Official walkthrough showing real live voice dialogue and automated transcript generation in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Multi-Tier Distributed Architecture &amp; AI Cloud Stack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Robust integration of modern frontend, microservice backend, and low-latency AI clouds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86868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🔹 Frontend Client:  </a:t>
            </a:r>
            <a:r>
              <a:rPr sz="1400" b="0">
                <a:solidFill>
                  <a:srgbClr val="F8FAFC"/>
                </a:solidFill>
              </a:rPr>
              <a:t>React 18 • Vite • Three.js 3D Engine • Web Speech API • WebRTC • Lucide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10698480" cy="86868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🔹 Backend &amp; Realtime:  </a:t>
            </a:r>
            <a:r>
              <a:rPr sz="1400" b="0">
                <a:solidFill>
                  <a:srgbClr val="F8FAFC"/>
                </a:solidFill>
              </a:rPr>
              <a:t>Node.js (ESM) • Express REST APIs • Socket.IO Rooms • Sandboxed Code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10698480" cy="868680"/>
          </a:xfrm>
          <a:prstGeom prst="roundRect">
            <a:avLst/>
          </a:prstGeom>
          <a:solidFill>
            <a:srgbClr val="121E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A855F7"/>
                </a:solidFill>
              </a:defRPr>
            </a:pPr>
            <a:r>
              <a:t>🔹 AI Cloud Services:  </a:t>
            </a:r>
            <a:r>
              <a:rPr sz="1400" b="0">
                <a:solidFill>
                  <a:srgbClr val="F8FAFC"/>
                </a:solidFill>
              </a:rPr>
              <a:t>Groq AI (Llama 3.3 70B/120B) • Ultravox Voice WebSockets • Pinecone Vector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66360"/>
            <a:ext cx="10698480" cy="868680"/>
          </a:xfrm>
          <a:prstGeom prst="roundRect">
            <a:avLst/>
          </a:prstGeom>
          <a:solidFill>
            <a:srgbClr val="121E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🔹 Databases &amp; Cloud:  </a:t>
            </a:r>
            <a:r>
              <a:rPr sz="1400" b="0">
                <a:solidFill>
                  <a:srgbClr val="F8FAFC"/>
                </a:solidFill>
              </a:rPr>
              <a:t>MongoDB Atlas (Multi-Tenant) • Twilio PSTN • Railway Nixpacks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ASSESSMENTS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Live Contests, Quizzes &amp; AI Proctoring Shield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Zero-wait instant join competitions with enterprise-grade cheat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🛡️ Zero-Wait Contests (CODE01)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Instant test commencement on joining with multi-language execution (JS, Python, Java) and hidden test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</a:defRPr>
            </a:pPr>
            <a:r>
              <a:t>🛡️ Multiplayer Live Quizzes (QUIZ01)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Interactive multi-participant quizzes with real-time Socket.IO scoreboards and host controls.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🛡️ Face Biometrics via Pinecone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Continuous facial embedding matching preventing candidate substitution throughout interviews.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🛡️ Multi-Sensor Environment Guard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Dual-camera workspace surveillance + tab-switch blur tracking + audio disturbance monitoring.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PRODUCTION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Deployment Ready on Railway Cloud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Streamlined one-click deployment architecture with full microservice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Nixpacks Build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Automated Node 20 environment compiling frontend Vite build and installing backend dependencies in a unified pipeline.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01168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Static Asset Serving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Express server dynamically serves compiled frontend distribution with full SPA client routing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Live Health Probes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Integrated /api/health and /live endpoints for automated uptime tracking, restarts, and Kubernetes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5120640" cy="1828800"/>
          </a:xfrm>
          <a:prstGeom prst="roundRect">
            <a:avLst/>
          </a:prstGeom>
          <a:solidFill>
            <a:srgbClr val="121E42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🚀 Environment Security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Sanitized production configurations and .env.example with zero hardcoded secret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PLATFORM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Demonstrated Value &amp; Measurable Results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Proven efficiency gains across technical hiring cycles and candidate preparation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85%</a:t>
            </a:r>
            <a:br/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Faster Hiring Cycles</a:t>
            </a:r>
            <a:br/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Reduction in initial phone screening turnaround time via automated voice agent.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99.2%</a:t>
            </a:r>
            <a:br/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Proctoring Accuracy</a:t>
            </a:r>
            <a:br/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Biometric face verification and dual-camera workspace tracking precision.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10,000+</a:t>
            </a:r>
            <a:br/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Interviews Conducted</a:t>
            </a:r>
            <a:br/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Scaled assessment capacity with zero human interviewer scheduling overhead.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011680"/>
            <a:ext cx="2560320" cy="4114800"/>
          </a:xfrm>
          <a:prstGeom prst="roundRect">
            <a:avLst/>
          </a:prstGeom>
          <a:solidFill>
            <a:srgbClr val="121E42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t>4x</a:t>
            </a:r>
            <a:br/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Higher Practice Retention</a:t>
            </a:r>
            <a:br/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Candidate technical performance improvements following 3D AI avatar mock sessions.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06B6D4"/>
                </a:solidFill>
              </a:defRPr>
            </a:pPr>
            <a:r>
              <a:t>EDU-AI: The Future of Autonomous Technical Recruitment &amp; Learning</a:t>
            </a:r>
            <a:br/>
          </a:p>
        </p:txBody>
      </p:sp>
      <p:sp>
        <p:nvSpPr>
          <p:cNvPr id="4" name="Rounded Rectangle 3"/>
          <p:cNvSpPr/>
          <p:nvPr/>
        </p:nvSpPr>
        <p:spPr>
          <a:xfrm>
            <a:off x="2286000" y="3474720"/>
            <a:ext cx="7616952" cy="2286000"/>
          </a:xfrm>
          <a:prstGeom prst="roundRect">
            <a:avLst/>
          </a:prstGeom>
          <a:solidFill>
            <a:srgbClr val="121E42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🔗 GitHub Repository: github.com/parthsharma17prs/eduai</a:t>
            </a:r>
          </a:p>
          <a:p>
            <a:pPr>
              <a:defRPr sz="1500" b="1">
                <a:solidFill>
                  <a:srgbClr val="EF4444"/>
                </a:solidFill>
              </a:defRPr>
            </a:pPr>
            <a:r>
              <a:t>🎬 Official YouTube Demo: youtu.be/X7wJoscMq6A</a:t>
            </a:r>
          </a:p>
          <a:p>
            <a:pPr>
              <a:defRPr sz="1500" b="1">
                <a:solidFill>
                  <a:srgbClr val="10B981"/>
                </a:solidFill>
              </a:defRPr>
            </a:pPr>
            <a:r>
              <a:t>🌐 Live Localhost Portal: http://localhost:5173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